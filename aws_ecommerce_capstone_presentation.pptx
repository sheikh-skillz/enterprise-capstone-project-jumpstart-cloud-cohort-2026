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640080"/>
            <a:ext cx="2377440" cy="164592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960120"/>
            <a:ext cx="1737360" cy="164592"/>
          </a:xfrm>
          <a:prstGeom prst="rect">
            <a:avLst/>
          </a:prstGeom>
          <a:solidFill>
            <a:srgbClr val="2C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1280160"/>
            <a:ext cx="2834640" cy="164592"/>
          </a:xfrm>
          <a:prstGeom prst="rect">
            <a:avLst/>
          </a:prstGeom>
          <a:solidFill>
            <a:srgbClr val="EB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498079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5ADBE"/>
                </a:solidFill>
                <a:latin typeface="Aptos"/>
              </a:rPr>
              <a:t>ENTERPRISE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8412480" cy="1463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Automated E-Commerce
Order &amp; Media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77724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0">
                <a:solidFill>
                  <a:srgbClr val="D7E1EF"/>
                </a:solidFill>
                <a:latin typeface="Aptos"/>
              </a:rPr>
              <a:t>A serverless AWS architecture for order intake, event fan-out,
secure image uploads, AI-assisted analysis, and metadata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83480"/>
            <a:ext cx="2834640" cy="502920"/>
          </a:xfrm>
          <a:prstGeom prst="roundRect">
            <a:avLst/>
          </a:prstGeom>
          <a:solidFill>
            <a:srgbClr val="233758"/>
          </a:solidFill>
          <a:ln>
            <a:solidFill>
              <a:srgbClr val="445F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102352"/>
            <a:ext cx="25603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AWS  •  SERVERLESS  •  EVENT-DRIVEN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63640"/>
            <a:ext cx="77724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A0B4CC"/>
                </a:solidFill>
                <a:latin typeface="Aptos"/>
              </a:rPr>
              <a:t>Prepared for capstone review •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Problem statement &amp; 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97789"/>
                </a:solidFill>
                <a:latin typeface="Aptos"/>
              </a:rPr>
              <a:t>Why combine API-driven order processing with event-driven media analysis?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33856"/>
            <a:ext cx="960120" cy="50292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2C70C9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73152" cy="1828800"/>
          </a:xfrm>
          <a:prstGeom prst="rect">
            <a:avLst/>
          </a:prstGeom>
          <a:solidFill>
            <a:srgbClr val="2C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27631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Business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020824"/>
            <a:ext cx="324612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A3444"/>
                </a:solidFill>
                <a:latin typeface="Aptos"/>
              </a:rPr>
              <a:t>Order events and uploaded product media need reliable intake, durable storage, and downstream processing without tightly coupling every component.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1828800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27631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Architecture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20824"/>
            <a:ext cx="324612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444"/>
                </a:solidFill>
                <a:latin typeface="Aptos"/>
              </a:rPr>
              <a:t>• Expose secure HTTPS API endpoints
• Persist order and asset metadata
• Fan out order events to independent queues
• Analyze uploaded images automatically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828800"/>
          </a:xfrm>
          <a:prstGeom prst="rect">
            <a:avLst/>
          </a:prstGeom>
          <a:solidFill>
            <a:srgbClr val="EB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627631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Design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020824"/>
            <a:ext cx="324612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444"/>
                </a:solidFill>
                <a:latin typeface="Aptos"/>
              </a:rPr>
              <a:t>Use managed AWS services, least-privilege IAM, private S3 storage, asynchronous messaging, and independently testable Lambda functions.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106984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122340"/>
                </a:solidFill>
                <a:latin typeface="Aptos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10424160" cy="146304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A3444"/>
                </a:solidFill>
                <a:latin typeface="Aptos"/>
              </a:defRPr>
            </a:pPr>
            <a:r>
              <a:t>•  A browser can submit an order and receive a successful API response.</a:t>
            </a:r>
          </a:p>
          <a:p>
            <a:pPr>
              <a:spcAft>
                <a:spcPts val="800"/>
              </a:spcAft>
              <a:defRPr sz="1500">
                <a:solidFill>
                  <a:srgbClr val="2A3444"/>
                </a:solidFill>
                <a:latin typeface="Aptos"/>
              </a:defRPr>
            </a:pPr>
            <a:r>
              <a:t>•  An image can be uploaded using a short-lived presigned URL.</a:t>
            </a:r>
          </a:p>
          <a:p>
            <a:pPr>
              <a:spcAft>
                <a:spcPts val="800"/>
              </a:spcAft>
              <a:defRPr sz="1500">
                <a:solidFill>
                  <a:srgbClr val="2A3444"/>
                </a:solidFill>
                <a:latin typeface="Aptos"/>
              </a:defRPr>
            </a:pPr>
            <a:r>
              <a:t>•  S3 events trigger image analysis and DynamoDB metadata creation.</a:t>
            </a:r>
          </a:p>
          <a:p>
            <a:pPr>
              <a:spcAft>
                <a:spcPts val="800"/>
              </a:spcAft>
              <a:defRPr sz="1500">
                <a:solidFill>
                  <a:srgbClr val="2A3444"/>
                </a:solidFill>
                <a:latin typeface="Aptos"/>
              </a:defRPr>
            </a:pPr>
            <a:r>
              <a:t>•  SNS delivers order events to the subscribed SQS queues.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AWS ENTERPRISE CAPSTONE  •  E-COMMERCE ORDER &amp; MEDIA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Solution architecture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97789"/>
                </a:solidFill>
                <a:latin typeface="Aptos"/>
              </a:rPr>
              <a:t>Two workflows share the frontend and metadata store, but use different processing paths.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33856"/>
            <a:ext cx="960120" cy="50292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2C70C9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4173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12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Customer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920240"/>
            <a:ext cx="1645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C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CloudFront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HTTPS 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1645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5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API Gateway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REST 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20240" y="2295144"/>
            <a:ext cx="411480" cy="0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77639" y="2295144"/>
            <a:ext cx="457201" cy="0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675120" y="1417320"/>
            <a:ext cx="1600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9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OrderFunction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Lambda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417320"/>
            <a:ext cx="1508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775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DynamoDB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Orders + assets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80760" y="1810512"/>
            <a:ext cx="594360" cy="274319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75320" y="1792224"/>
            <a:ext cx="868680" cy="0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675120" y="2606040"/>
            <a:ext cx="16002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5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SNS topic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Order fan-out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606040"/>
            <a:ext cx="1143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329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SQS queues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3 consumers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78440" y="2606040"/>
            <a:ext cx="12344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C3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DLQs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3 queues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70648" y="2167128"/>
            <a:ext cx="0" cy="438912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75320" y="2980944"/>
            <a:ext cx="640080" cy="0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58400" y="2980944"/>
            <a:ext cx="320040" cy="0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194560" y="4251960"/>
            <a:ext cx="1645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B9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UploadUrlFunction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Presigned URL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251960"/>
            <a:ext cx="1645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329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Private S3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uploads/ prefix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4251960"/>
            <a:ext cx="1645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775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MediaProcessor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Lambda + Rekognition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251960"/>
            <a:ext cx="15087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775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DynamoDB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697789"/>
                </a:solidFill>
                <a:latin typeface="Aptos"/>
              </a:rPr>
              <a:t>Asset metadata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2670048"/>
            <a:ext cx="2194560" cy="1581912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40480" y="4626864"/>
            <a:ext cx="594360" cy="0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4626864"/>
            <a:ext cx="594360" cy="0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21040" y="4626864"/>
            <a:ext cx="822960" cy="0"/>
          </a:xfrm>
          <a:prstGeom prst="line">
            <a:avLst/>
          </a:prstGeom>
          <a:ln w="2286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" y="5623560"/>
            <a:ext cx="10789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0">
                <a:solidFill>
                  <a:srgbClr val="697789"/>
                </a:solidFill>
                <a:latin typeface="Aptos"/>
              </a:rPr>
              <a:t>Order path: API → Lambda → DynamoDB + SNS → SQS queues    |    Media path: API → presigned PUT → S3 event → Rekognition → DynamoDB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AWS ENTERPRISE CAPSTONE  •  E-COMMERCE ORDER &amp; MEDIA 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Workflow 1 — Order intake &amp; event fan-out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97789"/>
                </a:solidFill>
                <a:latin typeface="Aptos"/>
              </a:rPr>
              <a:t>Synchronous order acceptance followed by asynchronous distribution.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33856"/>
            <a:ext cx="960120" cy="50292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2C70C9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81328"/>
            <a:ext cx="1828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2C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300" b="1">
                <a:solidFill>
                  <a:srgbClr val="122340"/>
                </a:solidFill>
                <a:latin typeface="Aptos"/>
              </a:rPr>
              <a:t>1. Submit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536192"/>
            <a:ext cx="813816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444"/>
                </a:solidFill>
                <a:latin typeface="Aptos"/>
              </a:rPr>
              <a:t>Browser sends customerId and items to POST /orders.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40" y="2075688"/>
            <a:ext cx="0" cy="237744"/>
          </a:xfrm>
          <a:prstGeom prst="line">
            <a:avLst/>
          </a:prstGeom>
          <a:ln w="1651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2340864"/>
            <a:ext cx="1828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25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300" b="1">
                <a:solidFill>
                  <a:srgbClr val="122340"/>
                </a:solidFill>
                <a:latin typeface="Aptos"/>
              </a:rPr>
              <a:t>2.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395728"/>
            <a:ext cx="813816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444"/>
                </a:solidFill>
                <a:latin typeface="Aptos"/>
              </a:rPr>
              <a:t>OrderFunction validates required fields and creates an order ID.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1640" y="2935224"/>
            <a:ext cx="0" cy="237744"/>
          </a:xfrm>
          <a:prstGeom prst="line">
            <a:avLst/>
          </a:prstGeom>
          <a:ln w="1651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200400"/>
            <a:ext cx="1828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775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300" b="1">
                <a:solidFill>
                  <a:srgbClr val="122340"/>
                </a:solidFill>
                <a:latin typeface="Aptos"/>
              </a:rPr>
              <a:t>3. Persist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255264"/>
            <a:ext cx="813816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444"/>
                </a:solidFill>
                <a:latin typeface="Aptos"/>
              </a:rPr>
              <a:t>Order record is written to EcommerceOrdersAssets with status RECEIVED.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91640" y="3794760"/>
            <a:ext cx="0" cy="237744"/>
          </a:xfrm>
          <a:prstGeom prst="line">
            <a:avLst/>
          </a:prstGeom>
          <a:ln w="1651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" y="4059935"/>
            <a:ext cx="1828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EB9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300" b="1">
                <a:solidFill>
                  <a:srgbClr val="122340"/>
                </a:solidFill>
                <a:latin typeface="Aptos"/>
              </a:rPr>
              <a:t>4. Publish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114799"/>
            <a:ext cx="813816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444"/>
                </a:solidFill>
                <a:latin typeface="Aptos"/>
              </a:rPr>
              <a:t>Lambda publishes ORDER_CREATED to OrderFanoutEvents.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91640" y="4654296"/>
            <a:ext cx="0" cy="237744"/>
          </a:xfrm>
          <a:prstGeom prst="line">
            <a:avLst/>
          </a:prstGeom>
          <a:ln w="16510">
            <a:solidFill>
              <a:srgbClr val="DAE2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4919472"/>
            <a:ext cx="1828800" cy="585216"/>
          </a:xfrm>
          <a:prstGeom prst="roundRect">
            <a:avLst/>
          </a:prstGeom>
          <a:solidFill>
            <a:srgbClr val="FFFFFF"/>
          </a:solidFill>
          <a:ln>
            <a:solidFill>
              <a:srgbClr val="329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300" b="1">
                <a:solidFill>
                  <a:srgbClr val="122340"/>
                </a:solidFill>
                <a:latin typeface="Aptos"/>
              </a:rPr>
              <a:t>5. Fan 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974336"/>
            <a:ext cx="813816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A3444"/>
                </a:solidFill>
                <a:latin typeface="Aptos"/>
              </a:rPr>
              <a:t>SNS delivers copies to FulfillmentQueue, AnalyticsQueue, and NotificationQueue.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806440"/>
            <a:ext cx="106070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806440"/>
            <a:ext cx="73152" cy="457200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5925312"/>
            <a:ext cx="103510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122340"/>
                </a:solidFill>
                <a:latin typeface="Aptos"/>
              </a:rPr>
              <a:t>Operational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6318504"/>
            <a:ext cx="10332719" cy="-137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2A3444"/>
                </a:solidFill>
                <a:latin typeface="Aptos"/>
              </a:rPr>
              <a:t>SQS consumers can scale independently; DLQs are configured to isolate messages that repeatedly fail processing.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AWS ENTERPRISE CAPSTONE  •  E-COMMERCE ORDER &amp; MEDIA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Workflow 2 — Secure media upload &amp; AI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97789"/>
                </a:solidFill>
                <a:latin typeface="Aptos"/>
              </a:rPr>
              <a:t>The browser sends image bytes directly to S3; the API does not proxy the file.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33856"/>
            <a:ext cx="960120" cy="50292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2C70C9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C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Request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19659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2A3444"/>
                </a:solidFill>
                <a:latin typeface="Aptos"/>
              </a:rPr>
              <a:t>POST /upload-url sends filename and contentType.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240280"/>
            <a:ext cx="301752" cy="0"/>
          </a:xfrm>
          <a:prstGeom prst="line">
            <a:avLst/>
          </a:prstGeom>
          <a:ln w="1778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52928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Sign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2928" y="2788920"/>
            <a:ext cx="19659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2A3444"/>
                </a:solidFill>
                <a:latin typeface="Aptos"/>
              </a:rPr>
              <a:t>UploadUrlFunction returns a short-lived presigned S3 PUT URL.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18888" y="2240280"/>
            <a:ext cx="301752" cy="0"/>
          </a:xfrm>
          <a:prstGeom prst="line">
            <a:avLst/>
          </a:prstGeom>
          <a:ln w="1778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02936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29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Store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2788920"/>
            <a:ext cx="19659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2A3444"/>
                </a:solidFill>
                <a:latin typeface="Aptos"/>
              </a:rPr>
              <a:t>Browser uploads to private bucket under uploads/.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68896" y="2240280"/>
            <a:ext cx="301752" cy="0"/>
          </a:xfrm>
          <a:prstGeom prst="line">
            <a:avLst/>
          </a:prstGeom>
          <a:ln w="1778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52944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9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Trigger processor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2944" y="2788920"/>
            <a:ext cx="19659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2A3444"/>
                </a:solidFill>
                <a:latin typeface="Aptos"/>
              </a:rPr>
              <a:t>S3 ObjectCreated event invokes MediaProcessorFunction.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18904" y="2240280"/>
            <a:ext cx="301752" cy="0"/>
          </a:xfrm>
          <a:prstGeom prst="line">
            <a:avLst/>
          </a:prstGeom>
          <a:ln w="17780">
            <a:solidFill>
              <a:srgbClr val="697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02952" y="1828800"/>
            <a:ext cx="1965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775B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27432"/>
          <a:lstStyle/>
          <a:p>
            <a:pPr algn="ctr"/>
            <a:r>
              <a:rPr sz="1200" b="1">
                <a:solidFill>
                  <a:srgbClr val="122340"/>
                </a:solidFill>
                <a:latin typeface="Aptos"/>
              </a:rPr>
              <a:t>Analyze &amp; 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2952" y="2788920"/>
            <a:ext cx="196596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0">
                <a:solidFill>
                  <a:srgbClr val="2A3444"/>
                </a:solidFill>
                <a:latin typeface="Aptos"/>
              </a:rPr>
              <a:t>Rekognition detects labels, moderation signals, and text; metadata is stored in DynamoDB.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73152" cy="960120"/>
          </a:xfrm>
          <a:prstGeom prst="rect">
            <a:avLst/>
          </a:prstGeom>
          <a:solidFill>
            <a:srgbClr val="775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690872"/>
            <a:ext cx="4956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Processing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5084064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Metadata status records whether processing completed or the asset requires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57200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572000"/>
            <a:ext cx="73152" cy="960120"/>
          </a:xfrm>
          <a:prstGeom prst="rect">
            <a:avLst/>
          </a:prstGeom>
          <a:solidFill>
            <a:srgbClr val="32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4690872"/>
            <a:ext cx="4956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Browser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5084064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Presigned URLs expire; S3 bucket stays private. CORS permits the website origin to issue PUT requests.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AWS ENTERPRISE CAPSTONE  •  E-COMMERCE ORDER &amp; MEDIA 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Data design — one DynamoDB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97789"/>
                </a:solidFill>
                <a:latin typeface="Aptos"/>
              </a:rPr>
              <a:t>EcommerceOrdersAssets uses a composite key to distinguish order and asset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33856"/>
            <a:ext cx="960120" cy="50292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2C70C9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874519"/>
          </a:xfrm>
          <a:prstGeom prst="rect">
            <a:avLst/>
          </a:prstGeom>
          <a:solidFill>
            <a:srgbClr val="2C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27631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Order 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20824"/>
            <a:ext cx="48920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A3444"/>
                </a:solidFill>
                <a:latin typeface="Aptos"/>
              </a:rPr>
              <a:t>PK: ORDER#&lt;uuid&gt;
SK: ORDER
Attributes include orderId, customerId, items, status, and createdAt.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73152" cy="1874519"/>
          </a:xfrm>
          <a:prstGeom prst="rect">
            <a:avLst/>
          </a:prstGeom>
          <a:solidFill>
            <a:srgbClr val="775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627631"/>
            <a:ext cx="49103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122340"/>
                </a:solidFill>
                <a:latin typeface="Aptos"/>
              </a:rPr>
              <a:t>Asset metadata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020824"/>
            <a:ext cx="4892040" cy="1280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444"/>
                </a:solidFill>
                <a:latin typeface="Aptos"/>
              </a:rPr>
              <a:t>PK: ASSET#&lt;asset-id&gt;
SK: METADATA
Attributes include object key, detected labels, moderation results, detected text, and processing status.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10607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122340"/>
                </a:solidFill>
                <a:latin typeface="Aptos"/>
              </a:rPr>
              <a:t>Why use a composite key?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10241280" cy="132588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A3444"/>
                </a:solidFill>
                <a:latin typeface="Aptos"/>
              </a:defRPr>
            </a:pPr>
            <a:r>
              <a:t>•  A single table can hold multiple item types while keeping access patterns explicit.</a:t>
            </a:r>
          </a:p>
          <a:p>
            <a:pPr>
              <a:spcAft>
                <a:spcPts val="800"/>
              </a:spcAft>
              <a:defRPr sz="1500">
                <a:solidFill>
                  <a:srgbClr val="2A3444"/>
                </a:solidFill>
                <a:latin typeface="Aptos"/>
              </a:defRPr>
            </a:pPr>
            <a:r>
              <a:t>•  PK prefixes make record types easy to identify during console validation.</a:t>
            </a:r>
          </a:p>
          <a:p>
            <a:pPr>
              <a:spcAft>
                <a:spcPts val="800"/>
              </a:spcAft>
              <a:defRPr sz="1500">
                <a:solidFill>
                  <a:srgbClr val="2A3444"/>
                </a:solidFill>
                <a:latin typeface="Aptos"/>
              </a:defRPr>
            </a:pPr>
            <a:r>
              <a:t>•  On-demand capacity simplifies a capstone workload with variable traffic.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AWS ENTERPRISE CAPSTONE  •  E-COMMERCE ORDER &amp; MEDIA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Security controls &amp; trust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97789"/>
                </a:solidFill>
                <a:latin typeface="Aptos"/>
              </a:rPr>
              <a:t>Security is implemented through private storage, scoped roles, HTTPS, and browser-origin controls.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33856"/>
            <a:ext cx="960120" cy="50292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2C70C9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786384"/>
          </a:xfrm>
          <a:prstGeom prst="rect">
            <a:avLst/>
          </a:prstGeom>
          <a:solidFill>
            <a:srgbClr val="2C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36192"/>
            <a:ext cx="1053388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Frontend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29384"/>
            <a:ext cx="10515600" cy="1920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A3444"/>
                </a:solidFill>
                <a:latin typeface="Aptos"/>
              </a:rPr>
              <a:t>CloudFront serves the static frontend over HTTPS; frontend S3 bucket remains private behind OAC.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50008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50008"/>
            <a:ext cx="73152" cy="786384"/>
          </a:xfrm>
          <a:prstGeom prst="rect">
            <a:avLst/>
          </a:prstGeom>
          <a:solidFill>
            <a:srgbClr val="32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468880"/>
            <a:ext cx="1053388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Media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62072"/>
            <a:ext cx="10515600" cy="1920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A3444"/>
                </a:solidFill>
                <a:latin typeface="Aptos"/>
              </a:rPr>
              <a:t>Media bucket is private. Browser writes are limited to presigned URLs and the uploads/ prefix.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82696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82696"/>
            <a:ext cx="73152" cy="786384"/>
          </a:xfrm>
          <a:prstGeom prst="rect">
            <a:avLst/>
          </a:prstGeom>
          <a:solidFill>
            <a:srgbClr val="775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401568"/>
            <a:ext cx="1053388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IAM least privilege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794760"/>
            <a:ext cx="10515600" cy="1920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A3444"/>
                </a:solidFill>
                <a:latin typeface="Aptos"/>
              </a:rPr>
              <a:t>Lambda roles grant only the actions and resource ARNs needed for DynamoDB, SNS, S3, and Rekognition.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15384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215384"/>
            <a:ext cx="73152" cy="786384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334256"/>
            <a:ext cx="1053388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CORS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727448"/>
            <a:ext cx="10515600" cy="1920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A3444"/>
                </a:solidFill>
                <a:latin typeface="Aptos"/>
              </a:rPr>
              <a:t>API and S3 CORS are configured separately; origins should match the exact CloudFront origin.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48072"/>
            <a:ext cx="1078992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148072"/>
            <a:ext cx="73152" cy="786384"/>
          </a:xfrm>
          <a:prstGeom prst="rect">
            <a:avLst/>
          </a:prstGeom>
          <a:solidFill>
            <a:srgbClr val="EB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266944"/>
            <a:ext cx="1053388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Temporary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660136"/>
            <a:ext cx="10515600" cy="19202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2A3444"/>
                </a:solidFill>
                <a:latin typeface="Aptos"/>
              </a:rPr>
              <a:t>Presigned upload URLs are short-lived; never share their query parameters or store them in logs.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AWS ENTERPRISE CAPSTONE  •  E-COMMERCE ORDER &amp; MEDIA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Reliability, observability &amp; failure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97789"/>
                </a:solidFill>
                <a:latin typeface="Aptos"/>
              </a:rPr>
              <a:t>Managed services reduce operational overhead; validation and monitoring complete the design.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33856"/>
            <a:ext cx="960120" cy="50292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2C70C9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463040"/>
          </a:xfrm>
          <a:prstGeom prst="rect">
            <a:avLst/>
          </a:prstGeom>
          <a:solidFill>
            <a:srgbClr val="32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27631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Queue 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20824"/>
            <a:ext cx="3246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Three standard SQS queues and corresponding DLQs are configured. Main queue max receives is 3; DLQs retain messages for 14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1463040"/>
          </a:xfrm>
          <a:prstGeom prst="rect">
            <a:avLst/>
          </a:prstGeom>
          <a:solidFill>
            <a:srgbClr val="2C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27631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Troubleshooting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20824"/>
            <a:ext cx="3246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Use Lambda CloudWatch logs, API Gateway execution/access logs if enabled, and browser Network/Console details to isolate failures.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520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08760"/>
            <a:ext cx="73152" cy="1463040"/>
          </a:xfrm>
          <a:prstGeom prst="rect">
            <a:avLst/>
          </a:prstGeom>
          <a:solidFill>
            <a:srgbClr val="EB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627631"/>
            <a:ext cx="326440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122340"/>
                </a:solidFill>
                <a:latin typeface="Aptos"/>
              </a:rPr>
              <a:t>Failure modes to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020824"/>
            <a:ext cx="3246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Invalid order payload, unsupported media type, expired presigned URL, Rekognition failure, and repeated queue processing failure.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20440"/>
            <a:ext cx="105156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122340"/>
                </a:solidFill>
                <a:latin typeface="Aptos"/>
              </a:rPr>
              <a:t>Recommended production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424160" cy="160020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A3444"/>
                </a:solidFill>
                <a:latin typeface="Aptos"/>
              </a:defRPr>
            </a:pPr>
            <a:r>
              <a:t>•  Add CloudWatch alarms for Lambda errors, throttles, duration, and queue age/depth.</a:t>
            </a:r>
          </a:p>
          <a:p>
            <a:pPr>
              <a:spcAft>
                <a:spcPts val="800"/>
              </a:spcAft>
              <a:defRPr sz="1400">
                <a:solidFill>
                  <a:srgbClr val="2A3444"/>
                </a:solidFill>
                <a:latin typeface="Aptos"/>
              </a:defRPr>
            </a:pPr>
            <a:r>
              <a:t>•  Define retention and lifecycle policies for uploaded media and processed assets.</a:t>
            </a:r>
          </a:p>
          <a:p>
            <a:pPr>
              <a:spcAft>
                <a:spcPts val="800"/>
              </a:spcAft>
              <a:defRPr sz="1400">
                <a:solidFill>
                  <a:srgbClr val="2A3444"/>
                </a:solidFill>
                <a:latin typeface="Aptos"/>
              </a:defRPr>
            </a:pPr>
            <a:r>
              <a:t>•  Add idempotency protections for duplicate order submissions and S3 event retries.</a:t>
            </a:r>
          </a:p>
          <a:p>
            <a:pPr>
              <a:spcAft>
                <a:spcPts val="800"/>
              </a:spcAft>
              <a:defRPr sz="1400">
                <a:solidFill>
                  <a:srgbClr val="2A3444"/>
                </a:solidFill>
                <a:latin typeface="Aptos"/>
              </a:defRPr>
            </a:pPr>
            <a:r>
              <a:t>•  Use API authentication/rate limiting and validate file size, content type, and file content.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AWS ENTERPRISE CAPSTONE  •  E-COMMERCE ORDER &amp; MEDIA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Implementation status &amp; validation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97789"/>
                </a:solidFill>
                <a:latin typeface="Aptos"/>
              </a:rPr>
              <a:t>Based on the console tests completed during the build.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33856"/>
            <a:ext cx="960120" cy="50292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2C70C9"/>
                </a:solidFill>
                <a:latin typeface="Aptos"/>
              </a:rPr>
              <a:t>08</a:t>
            </a:r>
          </a:p>
        </p:txBody>
      </p:sp>
      <p:sp>
        <p:nvSpPr>
          <p:cNvPr id="6" name="Oval 5"/>
          <p:cNvSpPr/>
          <p:nvPr/>
        </p:nvSpPr>
        <p:spPr>
          <a:xfrm>
            <a:off x="804672" y="1490472"/>
            <a:ext cx="219456" cy="219456"/>
          </a:xfrm>
          <a:prstGeom prst="ellipse">
            <a:avLst/>
          </a:prstGeom>
          <a:solidFill>
            <a:srgbClr val="32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23317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Frontend + CloudFront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17320"/>
            <a:ext cx="7635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Page loads over CloudFront; frontend updated and cache invalidated.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249424"/>
            <a:ext cx="219456" cy="219456"/>
          </a:xfrm>
          <a:prstGeom prst="ellipse">
            <a:avLst/>
          </a:prstGeom>
          <a:solidFill>
            <a:srgbClr val="32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76272"/>
            <a:ext cx="23317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Order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176272"/>
            <a:ext cx="7635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POST /orders works; order records saved to DynamoDB.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008376"/>
            <a:ext cx="219456" cy="219456"/>
          </a:xfrm>
          <a:prstGeom prst="ellipse">
            <a:avLst/>
          </a:prstGeom>
          <a:solidFill>
            <a:srgbClr val="32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935224"/>
            <a:ext cx="23317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SNS/SQS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35224"/>
            <a:ext cx="7635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SNS topic and three queue subscriptions created; delivery checked.</a:t>
            </a:r>
          </a:p>
        </p:txBody>
      </p:sp>
      <p:sp>
        <p:nvSpPr>
          <p:cNvPr id="15" name="Oval 14"/>
          <p:cNvSpPr/>
          <p:nvPr/>
        </p:nvSpPr>
        <p:spPr>
          <a:xfrm>
            <a:off x="804672" y="3767328"/>
            <a:ext cx="219456" cy="219456"/>
          </a:xfrm>
          <a:prstGeom prst="ellipse">
            <a:avLst/>
          </a:prstGeom>
          <a:solidFill>
            <a:srgbClr val="32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694176"/>
            <a:ext cx="23317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Image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694176"/>
            <a:ext cx="7635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Frontend upload via presigned URL succeeds after media-bucket CORS configuration.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4526280"/>
            <a:ext cx="219456" cy="219456"/>
          </a:xfrm>
          <a:prstGeom prst="ellipse">
            <a:avLst/>
          </a:prstGeom>
          <a:solidFill>
            <a:srgbClr val="32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53128"/>
            <a:ext cx="23317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Image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453128"/>
            <a:ext cx="7635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S3 event invokes processor; Rekognition output and metadata record verified.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" y="5285231"/>
            <a:ext cx="219456" cy="219456"/>
          </a:xfrm>
          <a:prstGeom prst="ellipse">
            <a:avLst/>
          </a:prstGeom>
          <a:solidFill>
            <a:srgbClr val="EB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212079"/>
            <a:ext cx="23317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22340"/>
                </a:solidFill>
                <a:latin typeface="Aptos"/>
              </a:rPr>
              <a:t>DLQ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212079"/>
            <a:ext cx="76352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A3444"/>
                </a:solidFill>
                <a:latin typeface="Aptos"/>
              </a:rPr>
              <a:t>Queues and redrive configuration set; deliberate failure-path testing remains recommended.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AWS ENTERPRISE CAPSTONE  •  E-COMMERCE ORDER &amp; MEDIA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122340"/>
                </a:solidFill>
                <a:latin typeface="Aptos"/>
              </a:rPr>
              <a:t>Next steps &amp; production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697789"/>
                </a:solidFill>
                <a:latin typeface="Aptos"/>
              </a:rPr>
              <a:t>The capstone proves the core flows; these enhancements would move it closer to production.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33856"/>
            <a:ext cx="960120" cy="50292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92608"/>
            <a:ext cx="19202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2C70C9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463040"/>
          </a:xfrm>
          <a:prstGeom prst="rect">
            <a:avLst/>
          </a:prstGeom>
          <a:solidFill>
            <a:srgbClr val="2C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627631"/>
            <a:ext cx="4956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Complete the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20824"/>
            <a:ext cx="493776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444"/>
                </a:solidFill>
                <a:latin typeface="Aptos"/>
              </a:rPr>
              <a:t>• Run a fresh order through the frontend
• Confirm each SNS/SQS queue receives events
• Test DLQ redrive behavior in a controlled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1463040"/>
          </a:xfrm>
          <a:prstGeom prst="rect">
            <a:avLst/>
          </a:prstGeom>
          <a:solidFill>
            <a:srgbClr val="25AD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27631"/>
            <a:ext cx="4956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Operational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20824"/>
            <a:ext cx="493776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444"/>
                </a:solidFill>
                <a:latin typeface="Aptos"/>
              </a:rPr>
              <a:t>• Add CloudWatch dashboards and alarms
• Document recovery and replay procedures
• Track API and Lambda error rates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52120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337560"/>
            <a:ext cx="73152" cy="1463040"/>
          </a:xfrm>
          <a:prstGeom prst="rect">
            <a:avLst/>
          </a:prstGeom>
          <a:solidFill>
            <a:srgbClr val="775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456432"/>
            <a:ext cx="4956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Security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849624"/>
            <a:ext cx="493776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444"/>
                </a:solidFill>
                <a:latin typeface="Aptos"/>
              </a:rPr>
              <a:t>• Add user authentication and authorization
• Add upload size limits and deeper file validation
• Review IAM policies and presigned URL lifetime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37560"/>
            <a:ext cx="52120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37560"/>
            <a:ext cx="73152" cy="1463040"/>
          </a:xfrm>
          <a:prstGeom prst="rect">
            <a:avLst/>
          </a:prstGeom>
          <a:solidFill>
            <a:srgbClr val="EB9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456432"/>
            <a:ext cx="4956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22340"/>
                </a:solidFill>
                <a:latin typeface="Aptos"/>
              </a:rPr>
              <a:t>Scale &amp;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849624"/>
            <a:ext cx="493776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A3444"/>
                </a:solidFill>
                <a:latin typeface="Aptos"/>
              </a:rPr>
              <a:t>• Set lifecycle rules for media and logs
• Review DynamoDB access patterns and indexes
• Load-test queue throughput and Lambda concurrency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104241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600" b="1">
                <a:solidFill>
                  <a:srgbClr val="122340"/>
                </a:solidFill>
                <a:latin typeface="Aptos"/>
              </a:rPr>
              <a:t>Key takeaway: separate synchronous order acceptance from asynchronous event processing, and keep media upload and analysis decoupled.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96012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AWS ENTERPRISE CAPSTONE  •  E-COMMERCE ORDER &amp; MEDIA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9672"/>
            <a:ext cx="5486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1051560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25ADBE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83080"/>
            <a:ext cx="987552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46120"/>
            <a:ext cx="89611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0">
                <a:solidFill>
                  <a:srgbClr val="D7E1EF"/>
                </a:solidFill>
                <a:latin typeface="Aptos"/>
              </a:rPr>
              <a:t>A serverless, event-driven foundation for e-commerce orders and automated media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2514600" cy="530352"/>
          </a:xfrm>
          <a:prstGeom prst="roundRect">
            <a:avLst/>
          </a:prstGeom>
          <a:solidFill>
            <a:srgbClr val="233758"/>
          </a:solidFill>
          <a:ln>
            <a:solidFill>
              <a:srgbClr val="2C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4937760"/>
            <a:ext cx="2368296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SECURE FRONTEND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800600"/>
            <a:ext cx="2514600" cy="530352"/>
          </a:xfrm>
          <a:prstGeom prst="roundRect">
            <a:avLst/>
          </a:prstGeom>
          <a:solidFill>
            <a:srgbClr val="233758"/>
          </a:solidFill>
          <a:ln>
            <a:solidFill>
              <a:srgbClr val="25A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4937760"/>
            <a:ext cx="2368296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EVENT-DRIVEN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4800600"/>
            <a:ext cx="2514600" cy="530352"/>
          </a:xfrm>
          <a:prstGeom prst="roundRect">
            <a:avLst/>
          </a:prstGeom>
          <a:solidFill>
            <a:srgbClr val="233758"/>
          </a:solidFill>
          <a:ln>
            <a:solidFill>
              <a:srgbClr val="EB9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4937760"/>
            <a:ext cx="2368296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AI MEDIA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63640"/>
            <a:ext cx="8229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A0B4CC"/>
                </a:solidFill>
                <a:latin typeface="Aptos"/>
              </a:rPr>
              <a:t>AWS ENTERPRISE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